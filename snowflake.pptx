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2286000"/>
            <a:ext cx="2560320" cy="2560320"/>
          </a:xfrm>
          <a:prstGeom prst="ellipse">
            <a:avLst/>
          </a:prstGeom>
          <a:solidFill>
            <a:srgbClr val="1E90C8">
              <a:alpha val="25000"/>
            </a:srgbClr>
          </a:solidFill>
          <a:ln w="12700">
            <a:solidFill>
              <a:srgbClr val="1E90C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7772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Snowflake Elastic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7772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cloud-native аналитической СУБД, SIGMOD 2016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2697480" cy="384048"/>
          </a:xfrm>
          <a:prstGeom prst="roundRect">
            <a:avLst>
              <a:gd name="adj" fmla="val 11905"/>
            </a:avLst>
          </a:prstGeom>
          <a:solidFill>
            <a:srgbClr val="0D2B4E"/>
          </a:solidFill>
          <a:ln w="10160">
            <a:solidFill>
              <a:srgbClr val="1E90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2697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Architecture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3383280"/>
            <a:ext cx="2697480" cy="384048"/>
          </a:xfrm>
          <a:prstGeom prst="roundRect">
            <a:avLst>
              <a:gd name="adj" fmla="val 11905"/>
            </a:avLst>
          </a:prstGeom>
          <a:solidFill>
            <a:srgbClr val="0D2B4E"/>
          </a:solidFill>
          <a:ln w="10160">
            <a:solidFill>
              <a:srgbClr val="1E9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383280"/>
            <a:ext cx="2697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3383280"/>
            <a:ext cx="2697480" cy="384048"/>
          </a:xfrm>
          <a:prstGeom prst="roundRect">
            <a:avLst>
              <a:gd name="adj" fmla="val 11905"/>
            </a:avLst>
          </a:prstGeom>
          <a:solidFill>
            <a:srgbClr val="0D2B4E"/>
          </a:solidFill>
          <a:ln w="10160">
            <a:solidFill>
              <a:srgbClr val="1E90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383280"/>
            <a:ext cx="2697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 &amp; MVCC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программного обеспечения  •  SIGMOD/PODS 2016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8529"/>
          </a:solidFill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shared-nothing архитектура не подходит для облака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0"/>
          </a:xfrm>
          <a:prstGeom prst="line">
            <a:avLst/>
          </a:prstGeom>
          <a:noFill/>
          <a:ln w="9525">
            <a:solidFill>
              <a:srgbClr val="1E9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2423160"/>
          </a:xfrm>
          <a:prstGeom prst="rect">
            <a:avLst/>
          </a:prstGeom>
          <a:solidFill>
            <a:srgbClr val="122038"/>
          </a:solidFill>
          <a:ln w="15240">
            <a:solidFill>
              <a:srgbClr val="E8852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91440" cy="2423160"/>
          </a:xfrm>
          <a:prstGeom prst="rect">
            <a:avLst/>
          </a:prstGeom>
          <a:solidFill>
            <a:srgbClr val="E88529"/>
          </a:solidFill>
        </p:spPr>
      </p:sp>
      <p:sp>
        <p:nvSpPr>
          <p:cNvPr id="7" name="Text 5"/>
          <p:cNvSpPr/>
          <p:nvPr/>
        </p:nvSpPr>
        <p:spPr>
          <a:xfrm>
            <a:off x="457200" y="1051560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Гетерогенность нагрузки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251460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 для bulk load (высокий I/O) — плохой fit для аналитических запросов (CPU). Результат: компромиссное железо с низкой средней утилизацией.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88920" cy="2423160"/>
          </a:xfrm>
          <a:prstGeom prst="rect">
            <a:avLst/>
          </a:prstGeom>
          <a:solidFill>
            <a:srgbClr val="122038"/>
          </a:solidFill>
          <a:ln w="1524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91440" cy="2423160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11" name="Text 9"/>
          <p:cNvSpPr/>
          <p:nvPr/>
        </p:nvSpPr>
        <p:spPr>
          <a:xfrm>
            <a:off x="3429000" y="1051560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changes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435608"/>
            <a:ext cx="251460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/ удаление узла требует перераспределения данных. Те же узлы, что делают reshuffling, обрабатывают запросы — система деградирует.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788920" cy="2423160"/>
          </a:xfrm>
          <a:prstGeom prst="rect">
            <a:avLst/>
          </a:prstGeom>
          <a:solidFill>
            <a:srgbClr val="122038"/>
          </a:solidFill>
          <a:ln w="1524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60120"/>
            <a:ext cx="91440" cy="24231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5" name="Text 13"/>
          <p:cNvSpPr/>
          <p:nvPr/>
        </p:nvSpPr>
        <p:spPr>
          <a:xfrm>
            <a:off x="6400800" y="1051560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upgrade невозможен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435608"/>
            <a:ext cx="251460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тесно связано и предполагается гомогенным. Обновление системы без даунтайма практически нереализуемо.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520440"/>
            <a:ext cx="8595360" cy="1325880"/>
          </a:xfrm>
          <a:prstGeom prst="rect">
            <a:avLst/>
          </a:prstGeom>
          <a:solidFill>
            <a:srgbClr val="0D2B4E"/>
          </a:solidFill>
          <a:ln w="15240">
            <a:solidFill>
              <a:srgbClr val="E8852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611880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 проблемы: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822960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и Storage жёстко связаны. В on-premise это терпимо — нагрузка предсказуема, узлы редко меняются. В облаке — membership changes норма, нагрузка гетерогенна, есть сильный стимул к online upgrade. Вывод авторов: нужна фундаментальная перепроектировка.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Service-Oriented Architecture с тремя независимыми слоями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0"/>
          </a:xfrm>
          <a:prstGeom prst="line">
            <a:avLst/>
          </a:prstGeom>
          <a:noFill/>
          <a:ln w="9525">
            <a:solidFill>
              <a:srgbClr val="1E90C8"/>
            </a:solidFill>
            <a:prstDash val="solid"/>
          </a:ln>
        </p:spPr>
      </p:sp>
      <p:pic>
        <p:nvPicPr>
          <p:cNvPr id="28" name="Picture 27" descr="width=1100,quality=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1810" y="831850"/>
            <a:ext cx="5580380" cy="42659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Layer: PAX-формат, иммутабельность и min-max pruning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0"/>
          </a:xfrm>
          <a:prstGeom prst="line">
            <a:avLst/>
          </a:prstGeom>
          <a:noFill/>
          <a:ln w="9525">
            <a:solidFill>
              <a:srgbClr val="1E9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663440" cy="1234440"/>
          </a:xfrm>
          <a:prstGeom prst="rect">
            <a:avLst/>
          </a:prstGeom>
          <a:solidFill>
            <a:srgbClr val="122038"/>
          </a:solidFill>
          <a:ln w="15240">
            <a:solidFill>
              <a:srgbClr val="6B7FD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91440" cy="1234440"/>
          </a:xfrm>
          <a:prstGeom prst="rect">
            <a:avLst/>
          </a:prstGeom>
          <a:solidFill>
            <a:srgbClr val="6B7FD7"/>
          </a:solidFill>
        </p:spPr>
      </p:sp>
      <p:sp>
        <p:nvSpPr>
          <p:cNvPr id="7" name="Text 5"/>
          <p:cNvSpPr/>
          <p:nvPr/>
        </p:nvSpPr>
        <p:spPr>
          <a:xfrm>
            <a:off x="457200" y="1051560"/>
            <a:ext cx="4389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диктует дизайн данных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473"/>
            <a:ext cx="43891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blob store: только PUT/GET/DELETE, нет append, нет partial write. Файл нельзя изменить — только перезаписать целиком. Это ограничение напрямую определило формат хранения.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4663440" cy="1234440"/>
          </a:xfrm>
          <a:prstGeom prst="rect">
            <a:avLst/>
          </a:prstGeom>
          <a:solidFill>
            <a:srgbClr val="122038"/>
          </a:solidFill>
          <a:ln w="1524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04288"/>
            <a:ext cx="91440" cy="1234440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11" name="Text 9"/>
          <p:cNvSpPr/>
          <p:nvPr/>
        </p:nvSpPr>
        <p:spPr>
          <a:xfrm>
            <a:off x="457200" y="2395728"/>
            <a:ext cx="4389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 (hybrid columnar)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79776"/>
            <a:ext cx="43891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Таблицы → иммутабельные файлы. Внутри файла: значения каждой колонки сгруппированы (PAX). Range GET из S3 → только нужные колонки. Тяжёлое сжатие по колонкам.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648456"/>
            <a:ext cx="4663440" cy="1234440"/>
          </a:xfrm>
          <a:prstGeom prst="rect">
            <a:avLst/>
          </a:prstGeom>
          <a:solidFill>
            <a:srgbClr val="122038"/>
          </a:solidFill>
          <a:ln w="1524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48456"/>
            <a:ext cx="91440" cy="123444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5" name="Text 13"/>
          <p:cNvSpPr/>
          <p:nvPr/>
        </p:nvSpPr>
        <p:spPr>
          <a:xfrm>
            <a:off x="457200" y="3739896"/>
            <a:ext cx="4389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 из иммутабельности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23944"/>
            <a:ext cx="43891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= новый файл + пометка старого. Нет concurrent write conflicts, нет undo log, нет buffer pool. Snapshot Isolation тривиален: транзакция видит snapshot на момент старта.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66360" y="960120"/>
            <a:ext cx="3703320" cy="3977640"/>
          </a:xfrm>
          <a:prstGeom prst="rect">
            <a:avLst/>
          </a:prstGeom>
          <a:solidFill>
            <a:srgbClr val="122038"/>
          </a:solidFill>
          <a:ln w="15240">
            <a:solidFill>
              <a:srgbClr val="E8852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66360" y="960120"/>
            <a:ext cx="91440" cy="3977640"/>
          </a:xfrm>
          <a:prstGeom prst="rect">
            <a:avLst/>
          </a:prstGeom>
          <a:solidFill>
            <a:srgbClr val="E88529"/>
          </a:solidFill>
        </p:spPr>
      </p:sp>
      <p:sp>
        <p:nvSpPr>
          <p:cNvPr id="19" name="Text 17"/>
          <p:cNvSpPr/>
          <p:nvPr/>
        </p:nvSpPr>
        <p:spPr>
          <a:xfrm>
            <a:off x="5349240" y="1024128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Pruning (Zone Maps)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1463040"/>
            <a:ext cx="502920" cy="329184"/>
          </a:xfrm>
          <a:prstGeom prst="rect">
            <a:avLst/>
          </a:prstGeom>
          <a:solidFill>
            <a:srgbClr val="1E90C8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1463040"/>
            <a:ext cx="502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24728" y="1463040"/>
            <a:ext cx="713232" cy="329184"/>
          </a:xfrm>
          <a:prstGeom prst="rect">
            <a:avLst/>
          </a:prstGeom>
          <a:solidFill>
            <a:srgbClr val="1E90C8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24728" y="1463040"/>
            <a:ext cx="7132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min(date)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1463040"/>
            <a:ext cx="713232" cy="329184"/>
          </a:xfrm>
          <a:prstGeom prst="rect">
            <a:avLst/>
          </a:prstGeom>
          <a:solidFill>
            <a:srgbClr val="1E90C8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463040"/>
            <a:ext cx="7132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max(date)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51192" y="1463040"/>
            <a:ext cx="621792" cy="329184"/>
          </a:xfrm>
          <a:prstGeom prst="rect">
            <a:avLst/>
          </a:prstGeom>
          <a:solidFill>
            <a:srgbClr val="1E90C8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51192" y="1463040"/>
            <a:ext cx="6217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min(amt)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72984" y="1463040"/>
            <a:ext cx="621792" cy="329184"/>
          </a:xfrm>
          <a:prstGeom prst="rect">
            <a:avLst/>
          </a:prstGeom>
          <a:solidFill>
            <a:srgbClr val="1E90C8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72984" y="1463040"/>
            <a:ext cx="6217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max(amt)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21808" y="1810512"/>
            <a:ext cx="502920" cy="329184"/>
          </a:xfrm>
          <a:prstGeom prst="rect">
            <a:avLst/>
          </a:prstGeom>
          <a:solidFill>
            <a:srgbClr val="2C1A10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1810512"/>
            <a:ext cx="502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24728" y="1810512"/>
            <a:ext cx="713232" cy="329184"/>
          </a:xfrm>
          <a:prstGeom prst="rect">
            <a:avLst/>
          </a:prstGeom>
          <a:solidFill>
            <a:srgbClr val="2C1A10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4728" y="1810512"/>
            <a:ext cx="7132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37960" y="1810512"/>
            <a:ext cx="713232" cy="329184"/>
          </a:xfrm>
          <a:prstGeom prst="rect">
            <a:avLst/>
          </a:prstGeom>
          <a:solidFill>
            <a:srgbClr val="2C1A10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810512"/>
            <a:ext cx="7132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51192" y="1810512"/>
            <a:ext cx="621792" cy="329184"/>
          </a:xfrm>
          <a:prstGeom prst="rect">
            <a:avLst/>
          </a:prstGeom>
          <a:solidFill>
            <a:srgbClr val="2C1A10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51192" y="1810512"/>
            <a:ext cx="6217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872984" y="1810512"/>
            <a:ext cx="621792" cy="329184"/>
          </a:xfrm>
          <a:prstGeom prst="rect">
            <a:avLst/>
          </a:prstGeom>
          <a:solidFill>
            <a:srgbClr val="2C1A10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72984" y="1810512"/>
            <a:ext cx="6217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21808" y="2157984"/>
            <a:ext cx="502920" cy="329184"/>
          </a:xfrm>
          <a:prstGeom prst="rect">
            <a:avLst/>
          </a:prstGeom>
          <a:solidFill>
            <a:srgbClr val="0D2B4E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21808" y="2157984"/>
            <a:ext cx="502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24728" y="2157984"/>
            <a:ext cx="713232" cy="329184"/>
          </a:xfrm>
          <a:prstGeom prst="rect">
            <a:avLst/>
          </a:prstGeom>
          <a:solidFill>
            <a:srgbClr val="0D2B4E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24728" y="2157984"/>
            <a:ext cx="7132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37960" y="2157984"/>
            <a:ext cx="713232" cy="329184"/>
          </a:xfrm>
          <a:prstGeom prst="rect">
            <a:avLst/>
          </a:prstGeom>
          <a:solidFill>
            <a:srgbClr val="0D2B4E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2157984"/>
            <a:ext cx="7132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2024-06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51192" y="2157984"/>
            <a:ext cx="621792" cy="329184"/>
          </a:xfrm>
          <a:prstGeom prst="rect">
            <a:avLst/>
          </a:prstGeom>
          <a:solidFill>
            <a:srgbClr val="0D2B4E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51192" y="2157984"/>
            <a:ext cx="6217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72984" y="2157984"/>
            <a:ext cx="621792" cy="329184"/>
          </a:xfrm>
          <a:prstGeom prst="rect">
            <a:avLst/>
          </a:prstGeom>
          <a:solidFill>
            <a:srgbClr val="0D2B4E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72984" y="2157984"/>
            <a:ext cx="6217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321808" y="2505456"/>
            <a:ext cx="502920" cy="329184"/>
          </a:xfrm>
          <a:prstGeom prst="rect">
            <a:avLst/>
          </a:prstGeom>
          <a:solidFill>
            <a:srgbClr val="0D2B4E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21808" y="2505456"/>
            <a:ext cx="502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24728" y="2505456"/>
            <a:ext cx="713232" cy="329184"/>
          </a:xfrm>
          <a:prstGeom prst="rect">
            <a:avLst/>
          </a:prstGeom>
          <a:solidFill>
            <a:srgbClr val="0D2B4E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24728" y="2505456"/>
            <a:ext cx="7132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2024-07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537960" y="2505456"/>
            <a:ext cx="713232" cy="329184"/>
          </a:xfrm>
          <a:prstGeom prst="rect">
            <a:avLst/>
          </a:prstGeom>
          <a:solidFill>
            <a:srgbClr val="0D2B4E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37960" y="2505456"/>
            <a:ext cx="71323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51192" y="2505456"/>
            <a:ext cx="621792" cy="329184"/>
          </a:xfrm>
          <a:prstGeom prst="rect">
            <a:avLst/>
          </a:prstGeom>
          <a:solidFill>
            <a:srgbClr val="0D2B4E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51192" y="2505456"/>
            <a:ext cx="6217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872984" y="2505456"/>
            <a:ext cx="621792" cy="329184"/>
          </a:xfrm>
          <a:prstGeom prst="rect">
            <a:avLst/>
          </a:prstGeom>
          <a:solidFill>
            <a:srgbClr val="0D2B4E"/>
          </a:solidFill>
          <a:ln w="6350">
            <a:solidFill>
              <a:srgbClr val="1E90C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72984" y="2505456"/>
            <a:ext cx="6217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321808" y="2880360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8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WHERE date &gt; '2024-06'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321808" y="3200400"/>
            <a:ext cx="3429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(max=2024-03 &lt; 2024-06) → SKIP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321808" y="3456432"/>
            <a:ext cx="3429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(max=2024-06 = граница) → SCAN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21808" y="3712464"/>
            <a:ext cx="3429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(min=2024-07 &gt; 2024-06) → SCAN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321808" y="4023360"/>
            <a:ext cx="3429000" cy="347472"/>
          </a:xfrm>
          <a:prstGeom prst="rect">
            <a:avLst/>
          </a:prstGeom>
          <a:solidFill>
            <a:srgbClr val="0D2B4E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94960" y="4041648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Также: dynamic pruning — bloom filters по join keys во время выполнения запроса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Warehouses: изоляция, consistent hashing и file stealing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0"/>
          </a:xfrm>
          <a:prstGeom prst="line">
            <a:avLst/>
          </a:prstGeom>
          <a:noFill/>
          <a:ln w="9525">
            <a:solidFill>
              <a:srgbClr val="1E9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651760" cy="1371600"/>
          </a:xfrm>
          <a:prstGeom prst="rect">
            <a:avLst/>
          </a:prstGeom>
          <a:solidFill>
            <a:srgbClr val="122038"/>
          </a:solidFill>
          <a:ln w="1524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651760" cy="73152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7" name="Text 5"/>
          <p:cNvSpPr/>
          <p:nvPr/>
        </p:nvSpPr>
        <p:spPr>
          <a:xfrm>
            <a:off x="365760" y="1024128"/>
            <a:ext cx="2468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VW: BI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не шарятся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2304288"/>
            <a:ext cx="0" cy="548640"/>
          </a:xfrm>
          <a:prstGeom prst="line">
            <a:avLst/>
          </a:prstGeom>
          <a:noFill/>
          <a:ln w="15240">
            <a:solidFill>
              <a:srgbClr val="29B5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246120" y="914400"/>
            <a:ext cx="2651760" cy="1371600"/>
          </a:xfrm>
          <a:prstGeom prst="rect">
            <a:avLst/>
          </a:prstGeom>
          <a:solidFill>
            <a:srgbClr val="122038"/>
          </a:solidFill>
          <a:ln w="1524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651760" cy="73152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2" name="Text 10"/>
          <p:cNvSpPr/>
          <p:nvPr/>
        </p:nvSpPr>
        <p:spPr>
          <a:xfrm>
            <a:off x="3337560" y="1024128"/>
            <a:ext cx="2468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VW: ETL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62763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не шарятся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304288"/>
            <a:ext cx="0" cy="548640"/>
          </a:xfrm>
          <a:prstGeom prst="line">
            <a:avLst/>
          </a:prstGeom>
          <a:noFill/>
          <a:ln w="15240">
            <a:solidFill>
              <a:srgbClr val="00D4A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217920" y="914400"/>
            <a:ext cx="2651760" cy="1371600"/>
          </a:xfrm>
          <a:prstGeom prst="rect">
            <a:avLst/>
          </a:prstGeom>
          <a:solidFill>
            <a:srgbClr val="122038"/>
          </a:solidFill>
          <a:ln w="15240">
            <a:solidFill>
              <a:srgbClr val="E8852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14400"/>
            <a:ext cx="2651760" cy="73152"/>
          </a:xfrm>
          <a:prstGeom prst="rect">
            <a:avLst/>
          </a:prstGeom>
          <a:solidFill>
            <a:srgbClr val="E88529"/>
          </a:solidFill>
        </p:spPr>
      </p:sp>
      <p:sp>
        <p:nvSpPr>
          <p:cNvPr id="17" name="Text 15"/>
          <p:cNvSpPr/>
          <p:nvPr/>
        </p:nvSpPr>
        <p:spPr>
          <a:xfrm>
            <a:off x="6309360" y="1024128"/>
            <a:ext cx="2468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VW: 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(XXL)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62763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не шарятся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43800" y="2304288"/>
            <a:ext cx="0" cy="548640"/>
          </a:xfrm>
          <a:prstGeom prst="line">
            <a:avLst/>
          </a:prstGeom>
          <a:noFill/>
          <a:ln w="15240">
            <a:solidFill>
              <a:srgbClr val="E8852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D2B4E"/>
          </a:solidFill>
          <a:ln w="15240">
            <a:solidFill>
              <a:srgbClr val="6B7F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80360"/>
            <a:ext cx="8412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Единое хранилище — Amazon S3  (все VW читают одни и те же файлы)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584448"/>
            <a:ext cx="2788920" cy="1444752"/>
          </a:xfrm>
          <a:prstGeom prst="rect">
            <a:avLst/>
          </a:prstGeom>
          <a:solidFill>
            <a:srgbClr val="122038"/>
          </a:solidFill>
          <a:ln w="1524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84448"/>
            <a:ext cx="91440" cy="1444752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24" name="Text 22"/>
          <p:cNvSpPr/>
          <p:nvPr/>
        </p:nvSpPr>
        <p:spPr>
          <a:xfrm>
            <a:off x="457200" y="3675888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hashing + LRU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998341"/>
            <a:ext cx="2514600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файл → всегда к одной ноде (по хешу имени) → высокий cache hit. При изменении состава нод — lazy: кэш вытесняется постепенно. Доступность &gt; немедленная оптимальность.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3584448"/>
            <a:ext cx="2788920" cy="1444752"/>
          </a:xfrm>
          <a:prstGeom prst="rect">
            <a:avLst/>
          </a:prstGeom>
          <a:solidFill>
            <a:srgbClr val="122038"/>
          </a:solidFill>
          <a:ln w="1524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584448"/>
            <a:ext cx="91440" cy="1444752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8" name="Text 26"/>
          <p:cNvSpPr/>
          <p:nvPr/>
        </p:nvSpPr>
        <p:spPr>
          <a:xfrm>
            <a:off x="3429000" y="3675888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worker processes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4006596"/>
            <a:ext cx="2514600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запрос → отдельный worker process, живёт только пока запрос. Иммутабельные файлы → нет visible side effects → отказ ноды = перезапуск запроса. Без recovery состояния.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584448"/>
            <a:ext cx="2788920" cy="1444752"/>
          </a:xfrm>
          <a:prstGeom prst="rect">
            <a:avLst/>
          </a:prstGeom>
          <a:solidFill>
            <a:srgbClr val="122038"/>
          </a:solidFill>
          <a:ln w="15240">
            <a:solidFill>
              <a:srgbClr val="E8852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584448"/>
            <a:ext cx="91440" cy="1444752"/>
          </a:xfrm>
          <a:prstGeom prst="rect">
            <a:avLst/>
          </a:prstGeom>
          <a:solidFill>
            <a:srgbClr val="E88529"/>
          </a:solidFill>
        </p:spPr>
      </p:sp>
      <p:sp>
        <p:nvSpPr>
          <p:cNvPr id="32" name="Text 30"/>
          <p:cNvSpPr/>
          <p:nvPr/>
        </p:nvSpPr>
        <p:spPr>
          <a:xfrm>
            <a:off x="6400800" y="3675888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stealing (skew handling)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4006596"/>
            <a:ext cx="2514600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Нода завершила файлы → запрашивает их у «медленных» нод. Читает прямо из S3, не нагружая straggler. Решение проблемы виртуализационных задержек в облаке.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Services: Cascades-оптимизатор и online upgrade без даунтайма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0"/>
          </a:xfrm>
          <a:prstGeom prst="line">
            <a:avLst/>
          </a:prstGeom>
          <a:noFill/>
          <a:ln w="9525">
            <a:solidFill>
              <a:srgbClr val="1E9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4023360"/>
          </a:xfrm>
          <a:prstGeom prst="rect">
            <a:avLst/>
          </a:prstGeom>
          <a:solidFill>
            <a:srgbClr val="122038"/>
          </a:solidFill>
          <a:ln w="1524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91440" cy="40233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Optimizer (Cascades)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840480" cy="777240"/>
          </a:xfrm>
          <a:prstGeom prst="rect">
            <a:avLst/>
          </a:prstGeom>
          <a:solidFill>
            <a:srgbClr val="0D2B4E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cost-based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1792224"/>
            <a:ext cx="3566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Cascades framework — оптимизация сверху вниз по дереву плана с оценкой стоимости</a:t>
            </a:r>
            <a:endParaRPr lang="en-US" sz="900" dirty="0">
              <a:solidFill>
                <a:srgbClr val="D6EA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840480" cy="777240"/>
          </a:xfrm>
          <a:prstGeom prst="rect">
            <a:avLst/>
          </a:prstGeom>
          <a:solidFill>
            <a:srgbClr val="0D2B4E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7744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индексов — осознанно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2660904"/>
            <a:ext cx="3566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пространство поиска планов → производительность предсказуема. Snowflake: "только один tuning parameter — сколько compute"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3840480" cy="777240"/>
          </a:xfrm>
          <a:prstGeom prst="rect">
            <a:avLst/>
          </a:prstGeom>
          <a:solidFill>
            <a:srgbClr val="0D2B4E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4612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Отложенные решения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529584"/>
            <a:ext cx="3566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join distribution решается в runtime, не в optimizer → меньше плохих планов за счёт небольшой потери пиковой производительности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3840480" cy="777240"/>
          </a:xfrm>
          <a:prstGeom prst="rect">
            <a:avLst/>
          </a:prstGeom>
          <a:solidFill>
            <a:srgbClr val="0D2B4E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11480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автоматически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4398264"/>
            <a:ext cx="3566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Обновляется при загрузке данных. Нет ANALYZE, нет VACUUM — zero knobs для пользователя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914400"/>
            <a:ext cx="4160520" cy="4023360"/>
          </a:xfrm>
          <a:prstGeom prst="rect">
            <a:avLst/>
          </a:prstGeom>
          <a:solidFill>
            <a:srgbClr val="122038"/>
          </a:solidFill>
          <a:ln w="1524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914400"/>
            <a:ext cx="91440" cy="4023360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22" name="Text 20"/>
          <p:cNvSpPr/>
          <p:nvPr/>
        </p:nvSpPr>
        <p:spPr>
          <a:xfrm>
            <a:off x="4892040" y="10058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Upgrade без даунтайма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1508760"/>
            <a:ext cx="384048" cy="621792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24" name="Text 22"/>
          <p:cNvSpPr/>
          <p:nvPr/>
        </p:nvSpPr>
        <p:spPr>
          <a:xfrm>
            <a:off x="4892040" y="1508760"/>
            <a:ext cx="38404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94376" y="1508760"/>
            <a:ext cx="3429000" cy="621792"/>
          </a:xfrm>
          <a:prstGeom prst="rect">
            <a:avLst/>
          </a:prstGeom>
          <a:solidFill>
            <a:srgbClr val="0D2B4E"/>
          </a:solidFill>
          <a:ln w="6350">
            <a:solidFill>
              <a:srgbClr val="29B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554480"/>
            <a:ext cx="3246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v2 рядом с v1 (side-by-side). Все сервисы stateless — состояние только в KV-store.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2331720"/>
            <a:ext cx="384048" cy="621792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8" name="Text 26"/>
          <p:cNvSpPr/>
          <p:nvPr/>
        </p:nvSpPr>
        <p:spPr>
          <a:xfrm>
            <a:off x="4892040" y="2331720"/>
            <a:ext cx="38404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94376" y="2331720"/>
            <a:ext cx="3429000" cy="621792"/>
          </a:xfrm>
          <a:prstGeom prst="rect">
            <a:avLst/>
          </a:prstGeom>
          <a:solidFill>
            <a:srgbClr val="0D2B4E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377440"/>
            <a:ext cx="3246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постепенно переключает аккаунты на v2. Новые запросы → v2.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3154680"/>
            <a:ext cx="384048" cy="621792"/>
          </a:xfrm>
          <a:prstGeom prst="rect">
            <a:avLst/>
          </a:prstGeom>
          <a:solidFill>
            <a:srgbClr val="E88529"/>
          </a:solidFill>
        </p:spPr>
      </p:sp>
      <p:sp>
        <p:nvSpPr>
          <p:cNvPr id="32" name="Text 30"/>
          <p:cNvSpPr/>
          <p:nvPr/>
        </p:nvSpPr>
        <p:spPr>
          <a:xfrm>
            <a:off x="4892040" y="3154680"/>
            <a:ext cx="38404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94376" y="3154680"/>
            <a:ext cx="3429000" cy="621792"/>
          </a:xfrm>
          <a:prstGeom prst="rect">
            <a:avLst/>
          </a:prstGeom>
          <a:solidFill>
            <a:srgbClr val="0D2B4E"/>
          </a:solidFill>
          <a:ln w="6350">
            <a:solidFill>
              <a:srgbClr val="E885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200400"/>
            <a:ext cx="3246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Старые запросы доживают на v1. VW разных версий могут шарить worker nodes и кэш.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977640"/>
            <a:ext cx="384048" cy="621792"/>
          </a:xfrm>
          <a:prstGeom prst="rect">
            <a:avLst/>
          </a:prstGeom>
          <a:solidFill>
            <a:srgbClr val="9B59B6"/>
          </a:solidFill>
        </p:spPr>
      </p:sp>
      <p:sp>
        <p:nvSpPr>
          <p:cNvPr id="36" name="Text 34"/>
          <p:cNvSpPr/>
          <p:nvPr/>
        </p:nvSpPr>
        <p:spPr>
          <a:xfrm>
            <a:off x="4892040" y="3977640"/>
            <a:ext cx="38404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94376" y="3977640"/>
            <a:ext cx="3429000" cy="621792"/>
          </a:xfrm>
          <a:prstGeom prst="rect">
            <a:avLst/>
          </a:prstGeom>
          <a:solidFill>
            <a:srgbClr val="0D2B4E"/>
          </a:solidFill>
          <a:ln w="635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4023360"/>
            <a:ext cx="3246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перешли на v2 → v1. Rollback = та же процедура в обратную сторону.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92040" y="4645152"/>
            <a:ext cx="3840480" cy="228600"/>
          </a:xfrm>
          <a:prstGeom prst="rect">
            <a:avLst/>
          </a:prstGeom>
          <a:solidFill>
            <a:srgbClr val="0D2B4E"/>
          </a:solidFill>
          <a:ln w="7620">
            <a:solidFill>
              <a:srgbClr val="29B5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654296"/>
            <a:ext cx="3749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деплой каждую неделю, 0 даунтайма  (на момент публикации статьи)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8529"/>
          </a:solidFill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вместо ETL и columnar / vectorized / push-based execution engine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0"/>
          </a:xfrm>
          <a:prstGeom prst="line">
            <a:avLst/>
          </a:prstGeom>
          <a:noFill/>
          <a:ln w="9525">
            <a:solidFill>
              <a:srgbClr val="1E9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3977640"/>
          </a:xfrm>
          <a:prstGeom prst="rect">
            <a:avLst/>
          </a:prstGeom>
          <a:solidFill>
            <a:srgbClr val="122038"/>
          </a:solidFill>
          <a:ln w="15240">
            <a:solidFill>
              <a:srgbClr val="E8852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91440" cy="3977640"/>
          </a:xfrm>
          <a:prstGeom prst="rect">
            <a:avLst/>
          </a:prstGeom>
          <a:solidFill>
            <a:srgbClr val="E88529"/>
          </a:solidFill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ELT-паттерн и тип VARIANT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840480" cy="758952"/>
          </a:xfrm>
          <a:prstGeom prst="rect">
            <a:avLst/>
          </a:prstGeom>
          <a:solidFill>
            <a:srgbClr val="0D2B4E"/>
          </a:solidFill>
          <a:ln w="7620">
            <a:solidFill>
              <a:srgbClr val="8FA8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(традиционно)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3566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Load. Смена схемы = координация между отделами, месяцы задержки.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3840480" cy="758952"/>
          </a:xfrm>
          <a:prstGeom prst="rect">
            <a:avLst/>
          </a:prstGeom>
          <a:solidFill>
            <a:srgbClr val="0D2B4E"/>
          </a:solidFill>
          <a:ln w="762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59152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(Snowflake)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2633472"/>
            <a:ext cx="3566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Transform позже. VARIANT: JSON/Avro/XML без schema. Schema inference автоматически.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3840480" cy="758952"/>
          </a:xfrm>
          <a:prstGeom prst="rect">
            <a:avLst/>
          </a:prstGeom>
          <a:solidFill>
            <a:srgbClr val="0D2B4E"/>
          </a:solidFill>
          <a:ln w="762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9544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producers/consumers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483864"/>
            <a:ext cx="3566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льёт новые поля — consumer читает когда готов. Архитектурный принцип разделения ответственностей.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14216"/>
            <a:ext cx="3840480" cy="758952"/>
          </a:xfrm>
          <a:prstGeom prst="rect">
            <a:avLst/>
          </a:prstGeom>
          <a:solidFill>
            <a:srgbClr val="0D2B4E"/>
          </a:solidFill>
          <a:ln w="7620">
            <a:solidFill>
              <a:srgbClr val="E885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59936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хранение JSON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4334256"/>
            <a:ext cx="3566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статистически анализирует документы в каждом файле, выносит частые поля в отдельные колонки. Overhead schema-less vs relational — ~10% по TPC-H бенчмарку.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206240" cy="3977640"/>
          </a:xfrm>
          <a:prstGeom prst="rect">
            <a:avLst/>
          </a:prstGeom>
          <a:solidFill>
            <a:srgbClr val="122038"/>
          </a:solidFill>
          <a:ln w="15240">
            <a:solidFill>
              <a:srgbClr val="29B5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14400"/>
            <a:ext cx="91440" cy="3977640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22" name="Text 20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3886200" cy="758952"/>
          </a:xfrm>
          <a:prstGeom prst="rect">
            <a:avLst/>
          </a:prstGeom>
          <a:solidFill>
            <a:srgbClr val="0D2B4E"/>
          </a:solidFill>
          <a:ln w="7620">
            <a:solidFill>
              <a:srgbClr val="29B5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463040"/>
            <a:ext cx="73152" cy="758952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25" name="Text 23"/>
          <p:cNvSpPr/>
          <p:nvPr/>
        </p:nvSpPr>
        <p:spPr>
          <a:xfrm>
            <a:off x="4983480" y="15087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1783080"/>
            <a:ext cx="3657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выполнение по колонкам. Эффективнее CPU caches, SIMD-инструкции, сжатие. Класс систем: C-store, MonetDB.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313432"/>
            <a:ext cx="3886200" cy="758952"/>
          </a:xfrm>
          <a:prstGeom prst="rect">
            <a:avLst/>
          </a:prstGeom>
          <a:solidFill>
            <a:srgbClr val="0D2B4E"/>
          </a:solidFill>
          <a:ln w="7620">
            <a:solidFill>
              <a:srgbClr val="00D4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313432"/>
            <a:ext cx="73152" cy="758952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9" name="Text 27"/>
          <p:cNvSpPr/>
          <p:nvPr/>
        </p:nvSpPr>
        <p:spPr>
          <a:xfrm>
            <a:off x="4983480" y="2359152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633472"/>
            <a:ext cx="3657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батчами ~тысяч строк без материализации промежуточных результатов (в отличие от MapReduce). Идея из MonetDB/X100.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163824"/>
            <a:ext cx="3886200" cy="758952"/>
          </a:xfrm>
          <a:prstGeom prst="rect">
            <a:avLst/>
          </a:prstGeom>
          <a:solidFill>
            <a:srgbClr val="0D2B4E"/>
          </a:solidFill>
          <a:ln w="7620">
            <a:solidFill>
              <a:srgbClr val="E8852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163824"/>
            <a:ext cx="73152" cy="758952"/>
          </a:xfrm>
          <a:prstGeom prst="rect">
            <a:avLst/>
          </a:prstGeom>
          <a:solidFill>
            <a:srgbClr val="E88529"/>
          </a:solidFill>
        </p:spPr>
      </p:sp>
      <p:sp>
        <p:nvSpPr>
          <p:cNvPr id="33" name="Text 31"/>
          <p:cNvSpPr/>
          <p:nvPr/>
        </p:nvSpPr>
        <p:spPr>
          <a:xfrm>
            <a:off x="4983480" y="3209544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PUSH-BASED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3483864"/>
            <a:ext cx="3657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Операторы толкают данные вниз по плану (vs Volcano pull). Убирает control flow из tight loops → лучше cache efficiency. Поддерживает DAG-планы, а не только деревья.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4014216"/>
            <a:ext cx="3886200" cy="758952"/>
          </a:xfrm>
          <a:prstGeom prst="rect">
            <a:avLst/>
          </a:prstGeom>
          <a:solidFill>
            <a:srgbClr val="0D2B4E"/>
          </a:solidFill>
          <a:ln w="7620">
            <a:solidFill>
              <a:srgbClr val="9B59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4014216"/>
            <a:ext cx="73152" cy="758952"/>
          </a:xfrm>
          <a:prstGeom prst="rect">
            <a:avLst/>
          </a:prstGeom>
          <a:solidFill>
            <a:srgbClr val="9B59B6"/>
          </a:solidFill>
        </p:spPr>
      </p:sp>
      <p:sp>
        <p:nvSpPr>
          <p:cNvPr id="37" name="Text 35"/>
          <p:cNvSpPr/>
          <p:nvPr/>
        </p:nvSpPr>
        <p:spPr>
          <a:xfrm>
            <a:off x="4983480" y="4060190"/>
            <a:ext cx="162433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BUFFER POOL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4334256"/>
            <a:ext cx="3657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традиционного buffer pool — запросы сканируют большие данные, буферизация таблиц невыгодна. Spill-to-disk через S3 для очень больших join / sort.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4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Выводы: архитектурные уроки из статьи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122038"/>
          </a:solidFill>
          <a:ln w="10160">
            <a:solidFill>
              <a:srgbClr val="29B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658368" cy="868680"/>
          </a:xfrm>
          <a:prstGeom prst="rect">
            <a:avLst/>
          </a:prstGeom>
          <a:solidFill>
            <a:srgbClr val="29B5E8"/>
          </a:solidFill>
        </p:spPr>
      </p:sp>
      <p:sp>
        <p:nvSpPr>
          <p:cNvPr id="7" name="Text 5"/>
          <p:cNvSpPr/>
          <p:nvPr/>
        </p:nvSpPr>
        <p:spPr>
          <a:xfrm>
            <a:off x="274320" y="1280160"/>
            <a:ext cx="6583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097280"/>
            <a:ext cx="76809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платформы диктуют дизайн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41732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не поддерживает append → иммутабельные файлы → MVCC тривиален → нет buffer pool → нет coordinator write conflicts. Одно техническое ограничение развернуло весь дизайн данных. Проектирование начинается с constraints.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8595360" cy="868680"/>
          </a:xfrm>
          <a:prstGeom prst="rect">
            <a:avLst/>
          </a:prstGeom>
          <a:solidFill>
            <a:srgbClr val="122038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29968"/>
            <a:ext cx="658368" cy="86868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2" name="Text 10"/>
          <p:cNvSpPr/>
          <p:nvPr/>
        </p:nvSpPr>
        <p:spPr>
          <a:xfrm>
            <a:off x="274320" y="2258568"/>
            <a:ext cx="6583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2075688"/>
            <a:ext cx="76809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— физически, не логически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395728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слоя с разными lifecycle: storage (permanent) / compute (ephemeral) / services (long-lived). Разные команды, разные деплои. Следствие: online upgrade каждую неделю без даунтайма. SRP applied to infrastructure.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08376"/>
            <a:ext cx="8595360" cy="868680"/>
          </a:xfrm>
          <a:prstGeom prst="rect">
            <a:avLst/>
          </a:prstGeom>
          <a:solidFill>
            <a:srgbClr val="122038"/>
          </a:solidFill>
          <a:ln w="10160">
            <a:solidFill>
              <a:srgbClr val="E885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08376"/>
            <a:ext cx="658368" cy="868680"/>
          </a:xfrm>
          <a:prstGeom prst="rect">
            <a:avLst/>
          </a:prstGeom>
          <a:solidFill>
            <a:srgbClr val="E88529"/>
          </a:solidFill>
        </p:spPr>
      </p:sp>
      <p:sp>
        <p:nvSpPr>
          <p:cNvPr id="17" name="Text 15"/>
          <p:cNvSpPr/>
          <p:nvPr/>
        </p:nvSpPr>
        <p:spPr>
          <a:xfrm>
            <a:off x="274320" y="3236976"/>
            <a:ext cx="6583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3054096"/>
            <a:ext cx="76809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Осознанные trade-offs, а не «лучшие практики»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374136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consistent hashing: доступность &gt; немедленная оптимальность кэша. Отказ от индексов: предсказуемость &gt; пиковая производительность. Отложенные решения в оптимизаторе: меньше плохих планов &gt; максимальная оптимизация.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986784"/>
            <a:ext cx="8595360" cy="868680"/>
          </a:xfrm>
          <a:prstGeom prst="rect">
            <a:avLst/>
          </a:prstGeom>
          <a:solidFill>
            <a:srgbClr val="122038"/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986784"/>
            <a:ext cx="658368" cy="868680"/>
          </a:xfrm>
          <a:prstGeom prst="rect">
            <a:avLst/>
          </a:prstGeom>
          <a:solidFill>
            <a:srgbClr val="9B59B6"/>
          </a:solidFill>
        </p:spPr>
      </p:sp>
      <p:sp>
        <p:nvSpPr>
          <p:cNvPr id="22" name="Text 20"/>
          <p:cNvSpPr/>
          <p:nvPr/>
        </p:nvSpPr>
        <p:spPr>
          <a:xfrm>
            <a:off x="274320" y="4215384"/>
            <a:ext cx="6583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" y="4032504"/>
            <a:ext cx="76809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Влияние: одна идея переформатировала индустрию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4352544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storage + independent compute → BigQuery, Redshift Serverless, Azure Synapse. ELT-паттерн вместо ETL → dbt, Databricks. Приниципы иммутабельности и stateless services → современная cloud-native архитектура.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6180</Words>
  <Application>WPS Presentation</Application>
  <PresentationFormat>On-screen Show (16:9)</PresentationFormat>
  <Paragraphs>235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Snowflake: The Elastic Data Warehouse</dc:title>
  <dc:creator>PptxGenJS</dc:creator>
  <dc:subject>PptxGenJS Presentation</dc:subject>
  <cp:lastModifiedBy>Ева Ильченко</cp:lastModifiedBy>
  <cp:revision>4</cp:revision>
  <dcterms:created xsi:type="dcterms:W3CDTF">2026-05-08T12:09:14Z</dcterms:created>
  <dcterms:modified xsi:type="dcterms:W3CDTF">2026-05-08T12:09:14Z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6041C748600C2A8564B0FC6988A97A84_42</vt:lpwstr>
  </property>
  <property fmtid="{D5CDD505-2E9C-101B-9397-08002B2CF9AE}" pid="3" name="KSOProductBuildVer">
    <vt:lpwstr>1033-12.1.25880.25880</vt:lpwstr>
  </property>
</Properties>
</file>